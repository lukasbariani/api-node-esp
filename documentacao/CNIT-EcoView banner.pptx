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2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28803600" cy="36004500"/>
  <p:notesSz cx="6858000" cy="9144000"/>
  <p:embeddedFontLst>
    <p:embeddedFont>
      <p:font typeface="Arial Bold" panose="020B0802020202020204"/>
      <p:bold r:id="rId7"/>
    </p:embeddedFont>
    <p:embeddedFont>
      <p:font typeface="Calibri" panose="020F050202020403020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25" d="100"/>
          <a:sy n="25" d="100"/>
        </p:scale>
        <p:origin x="208" y="8"/>
      </p:cViewPr>
      <p:guideLst>
        <p:guide orient="horz" pos="217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53226" y="0"/>
            <a:ext cx="32921873" cy="3127578"/>
          </a:xfrm>
          <a:custGeom>
            <a:avLst/>
            <a:gdLst/>
            <a:ahLst/>
            <a:cxnLst/>
            <a:rect l="l" t="t" r="r" b="b"/>
            <a:pathLst>
              <a:path w="32921873" h="3127578">
                <a:moveTo>
                  <a:pt x="0" y="0"/>
                </a:moveTo>
                <a:lnTo>
                  <a:pt x="32921873" y="0"/>
                </a:lnTo>
                <a:lnTo>
                  <a:pt x="32921873" y="3127578"/>
                </a:lnTo>
                <a:lnTo>
                  <a:pt x="0" y="312757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89" b="-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0195" y="5697307"/>
            <a:ext cx="13285064" cy="665156"/>
            <a:chOff x="0" y="0"/>
            <a:chExt cx="17713418" cy="8868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13452" cy="886841"/>
            </a:xfrm>
            <a:custGeom>
              <a:avLst/>
              <a:gdLst/>
              <a:ahLst/>
              <a:cxnLst/>
              <a:rect l="l" t="t" r="r" b="b"/>
              <a:pathLst>
                <a:path w="17713452" h="886841">
                  <a:moveTo>
                    <a:pt x="0" y="0"/>
                  </a:moveTo>
                  <a:lnTo>
                    <a:pt x="17713452" y="0"/>
                  </a:lnTo>
                  <a:lnTo>
                    <a:pt x="17713452" y="886841"/>
                  </a:lnTo>
                  <a:lnTo>
                    <a:pt x="0" y="886841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60768" y="17402942"/>
            <a:ext cx="13285063" cy="665256"/>
            <a:chOff x="0" y="0"/>
            <a:chExt cx="17713418" cy="887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13452" cy="886968"/>
            </a:xfrm>
            <a:custGeom>
              <a:avLst/>
              <a:gdLst/>
              <a:ahLst/>
              <a:cxnLst/>
              <a:rect l="l" t="t" r="r" b="b"/>
              <a:pathLst>
                <a:path w="17713452" h="886968">
                  <a:moveTo>
                    <a:pt x="0" y="0"/>
                  </a:moveTo>
                  <a:lnTo>
                    <a:pt x="17713452" y="0"/>
                  </a:lnTo>
                  <a:lnTo>
                    <a:pt x="17713452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670873" y="5672545"/>
            <a:ext cx="13212816" cy="665211"/>
            <a:chOff x="0" y="0"/>
            <a:chExt cx="17617088" cy="8869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17060" cy="886968"/>
            </a:xfrm>
            <a:custGeom>
              <a:avLst/>
              <a:gdLst/>
              <a:ahLst/>
              <a:cxnLst/>
              <a:rect l="l" t="t" r="r" b="b"/>
              <a:pathLst>
                <a:path w="17617060" h="886968">
                  <a:moveTo>
                    <a:pt x="0" y="0"/>
                  </a:moveTo>
                  <a:lnTo>
                    <a:pt x="17617060" y="0"/>
                  </a:lnTo>
                  <a:lnTo>
                    <a:pt x="17617060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743355" y="29238559"/>
            <a:ext cx="13140348" cy="665211"/>
            <a:chOff x="0" y="0"/>
            <a:chExt cx="17520464" cy="8869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20413" cy="886968"/>
            </a:xfrm>
            <a:custGeom>
              <a:avLst/>
              <a:gdLst/>
              <a:ahLst/>
              <a:cxnLst/>
              <a:rect l="l" t="t" r="r" b="b"/>
              <a:pathLst>
                <a:path w="17520413" h="886968">
                  <a:moveTo>
                    <a:pt x="0" y="0"/>
                  </a:moveTo>
                  <a:lnTo>
                    <a:pt x="17520413" y="0"/>
                  </a:lnTo>
                  <a:lnTo>
                    <a:pt x="17520413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99371" y="9703689"/>
            <a:ext cx="13285064" cy="665211"/>
            <a:chOff x="0" y="0"/>
            <a:chExt cx="17713418" cy="8869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13452" cy="886968"/>
            </a:xfrm>
            <a:custGeom>
              <a:avLst/>
              <a:gdLst/>
              <a:ahLst/>
              <a:cxnLst/>
              <a:rect l="l" t="t" r="r" b="b"/>
              <a:pathLst>
                <a:path w="17713452" h="886968">
                  <a:moveTo>
                    <a:pt x="0" y="0"/>
                  </a:moveTo>
                  <a:lnTo>
                    <a:pt x="17713452" y="0"/>
                  </a:lnTo>
                  <a:lnTo>
                    <a:pt x="17713452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4695398" y="33373010"/>
            <a:ext cx="1553662" cy="1050051"/>
            <a:chOff x="0" y="0"/>
            <a:chExt cx="7521336" cy="53649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21366" cy="5365013"/>
            </a:xfrm>
            <a:custGeom>
              <a:avLst/>
              <a:gdLst/>
              <a:ahLst/>
              <a:cxnLst/>
              <a:rect l="l" t="t" r="r" b="b"/>
              <a:pathLst>
                <a:path w="7521366" h="5365013">
                  <a:moveTo>
                    <a:pt x="0" y="0"/>
                  </a:moveTo>
                  <a:lnTo>
                    <a:pt x="7521366" y="0"/>
                  </a:lnTo>
                  <a:lnTo>
                    <a:pt x="7521366" y="5365013"/>
                  </a:lnTo>
                  <a:lnTo>
                    <a:pt x="0" y="5365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92" b="-692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807223" y="-4196770"/>
            <a:ext cx="4943077" cy="8393540"/>
          </a:xfrm>
          <a:custGeom>
            <a:avLst/>
            <a:gdLst/>
            <a:ahLst/>
            <a:cxnLst/>
            <a:rect l="l" t="t" r="r" b="b"/>
            <a:pathLst>
              <a:path w="4943077" h="8393540">
                <a:moveTo>
                  <a:pt x="0" y="0"/>
                </a:moveTo>
                <a:lnTo>
                  <a:pt x="4943077" y="0"/>
                </a:lnTo>
                <a:lnTo>
                  <a:pt x="4943077" y="8393540"/>
                </a:lnTo>
                <a:lnTo>
                  <a:pt x="0" y="8393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87730" y="276174"/>
            <a:ext cx="2868313" cy="3183717"/>
            <a:chOff x="0" y="0"/>
            <a:chExt cx="3824417" cy="42449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24478" cy="4244975"/>
            </a:xfrm>
            <a:custGeom>
              <a:avLst/>
              <a:gdLst/>
              <a:ahLst/>
              <a:cxnLst/>
              <a:rect l="l" t="t" r="r" b="b"/>
              <a:pathLst>
                <a:path w="3824478" h="4244975">
                  <a:moveTo>
                    <a:pt x="0" y="0"/>
                  </a:moveTo>
                  <a:lnTo>
                    <a:pt x="3824478" y="0"/>
                  </a:lnTo>
                  <a:lnTo>
                    <a:pt x="3824478" y="4244975"/>
                  </a:lnTo>
                  <a:lnTo>
                    <a:pt x="0" y="4244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497" r="-5496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5037431" y="-5730710"/>
            <a:ext cx="4662741" cy="8393540"/>
          </a:xfrm>
          <a:custGeom>
            <a:avLst/>
            <a:gdLst/>
            <a:ahLst/>
            <a:cxnLst/>
            <a:rect l="l" t="t" r="r" b="b"/>
            <a:pathLst>
              <a:path w="4662741" h="8393540">
                <a:moveTo>
                  <a:pt x="0" y="0"/>
                </a:moveTo>
                <a:lnTo>
                  <a:pt x="4662742" y="0"/>
                </a:lnTo>
                <a:lnTo>
                  <a:pt x="4662742" y="8393540"/>
                </a:lnTo>
                <a:lnTo>
                  <a:pt x="0" y="8393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2166874" y="728603"/>
            <a:ext cx="3443975" cy="1266860"/>
            <a:chOff x="0" y="0"/>
            <a:chExt cx="4591967" cy="16891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91939" cy="1689100"/>
            </a:xfrm>
            <a:custGeom>
              <a:avLst/>
              <a:gdLst/>
              <a:ahLst/>
              <a:cxnLst/>
              <a:rect l="l" t="t" r="r" b="b"/>
              <a:pathLst>
                <a:path w="4591939" h="1689100">
                  <a:moveTo>
                    <a:pt x="0" y="0"/>
                  </a:moveTo>
                  <a:lnTo>
                    <a:pt x="4591939" y="0"/>
                  </a:lnTo>
                  <a:lnTo>
                    <a:pt x="4591939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931" r="-1932" b="-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5917028" y="369766"/>
            <a:ext cx="1966661" cy="1984535"/>
            <a:chOff x="0" y="0"/>
            <a:chExt cx="2622215" cy="26460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22169" cy="2646045"/>
            </a:xfrm>
            <a:custGeom>
              <a:avLst/>
              <a:gdLst/>
              <a:ahLst/>
              <a:cxnLst/>
              <a:rect l="l" t="t" r="r" b="b"/>
              <a:pathLst>
                <a:path w="2622169" h="2646045">
                  <a:moveTo>
                    <a:pt x="0" y="0"/>
                  </a:moveTo>
                  <a:lnTo>
                    <a:pt x="2622169" y="0"/>
                  </a:lnTo>
                  <a:lnTo>
                    <a:pt x="2622169" y="2646045"/>
                  </a:lnTo>
                  <a:lnTo>
                    <a:pt x="0" y="264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54" r="-456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96398" y="25495448"/>
            <a:ext cx="13285063" cy="665256"/>
            <a:chOff x="0" y="0"/>
            <a:chExt cx="17713418" cy="8870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713452" cy="886968"/>
            </a:xfrm>
            <a:custGeom>
              <a:avLst/>
              <a:gdLst/>
              <a:ahLst/>
              <a:cxnLst/>
              <a:rect l="l" t="t" r="r" b="b"/>
              <a:pathLst>
                <a:path w="17713452" h="886968">
                  <a:moveTo>
                    <a:pt x="0" y="0"/>
                  </a:moveTo>
                  <a:lnTo>
                    <a:pt x="17713452" y="0"/>
                  </a:lnTo>
                  <a:lnTo>
                    <a:pt x="17713452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4696211" y="24423639"/>
            <a:ext cx="13212816" cy="665211"/>
            <a:chOff x="0" y="0"/>
            <a:chExt cx="17617088" cy="8869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617060" cy="886968"/>
            </a:xfrm>
            <a:custGeom>
              <a:avLst/>
              <a:gdLst/>
              <a:ahLst/>
              <a:cxnLst/>
              <a:rect l="l" t="t" r="r" b="b"/>
              <a:pathLst>
                <a:path w="17617060" h="886968">
                  <a:moveTo>
                    <a:pt x="0" y="0"/>
                  </a:moveTo>
                  <a:lnTo>
                    <a:pt x="17617060" y="0"/>
                  </a:lnTo>
                  <a:lnTo>
                    <a:pt x="17617060" y="886968"/>
                  </a:lnTo>
                  <a:lnTo>
                    <a:pt x="0" y="886968"/>
                  </a:lnTo>
                  <a:close/>
                </a:path>
              </a:pathLst>
            </a:custGeom>
            <a:solidFill>
              <a:srgbClr val="022E5C"/>
            </a:solidFill>
          </p:spPr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2608" y="15237358"/>
            <a:ext cx="7562200" cy="5623175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757796" y="5645202"/>
            <a:ext cx="13183599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RESUMO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7796" y="17365482"/>
            <a:ext cx="13183598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OBJETIVOS E JUSTIFICATIVA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696211" y="5645202"/>
            <a:ext cx="13111364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RESULTADOS E DISCUSSÕES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794081" y="29234106"/>
            <a:ext cx="13038882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REFERÊNCIAS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07223" y="9665535"/>
            <a:ext cx="13183599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INTRODUÇÃO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943080" y="15527845"/>
            <a:ext cx="406697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555" b="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Figura</a:t>
            </a:r>
            <a:r>
              <a:rPr lang="en-US" sz="2555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1 </a:t>
            </a:r>
            <a:r>
              <a:rPr lang="en-US" sz="2555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</a:t>
            </a:r>
            <a:r>
              <a:rPr lang="en-US" sz="2555" dirty="0" smtClea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Dashboard</a:t>
            </a:r>
            <a:endParaRPr lang="en-US" sz="2555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1584992" y="15621159"/>
            <a:ext cx="7099935" cy="8604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70"/>
              </a:lnSpc>
            </a:pPr>
            <a:r>
              <a:rPr lang="en-US" sz="2555" b="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Figura</a:t>
            </a:r>
            <a:r>
              <a:rPr lang="en-US" sz="2555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pt-BR" altLang="en-US" sz="2555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</a:t>
            </a:r>
            <a:r>
              <a:rPr lang="en-US" sz="2555" dirty="0" smtClea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– </a:t>
            </a:r>
            <a:r>
              <a:rPr lang="pt-BR" sz="2555" dirty="0" smtClea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Logo </a:t>
            </a:r>
            <a:r>
              <a:rPr lang="pt-BR" altLang="en-US" sz="2555" dirty="0" smtClea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 </a:t>
            </a:r>
            <a:r>
              <a:rPr lang="pt-BR" altLang="en-US" sz="2555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protótipo físico</a:t>
            </a:r>
            <a:endParaRPr lang="pt-BR" altLang="en-US" sz="2555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733801" y="2797530"/>
            <a:ext cx="22506966" cy="274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5"/>
              </a:lnSpc>
            </a:pPr>
            <a:r>
              <a:rPr lang="en-US" sz="4795" b="1" dirty="0" err="1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EcoView</a:t>
            </a:r>
            <a:r>
              <a:rPr lang="en-US" sz="4795" b="1" dirty="0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: </a:t>
            </a:r>
            <a:r>
              <a:rPr lang="en-US" sz="4795" b="1" dirty="0" err="1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Plataforma</a:t>
            </a:r>
            <a:r>
              <a:rPr lang="en-US" sz="4795" b="1" dirty="0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 de </a:t>
            </a:r>
            <a:r>
              <a:rPr lang="en-US" sz="4795" b="1" dirty="0" err="1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Indicadores</a:t>
            </a:r>
            <a:r>
              <a:rPr lang="en-US" sz="4795" b="1" dirty="0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 </a:t>
            </a:r>
            <a:r>
              <a:rPr lang="en-US" sz="4795" b="1" dirty="0" err="1">
                <a:solidFill>
                  <a:srgbClr val="00A5ED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Ambientais</a:t>
            </a:r>
            <a:endParaRPr lang="en-US" sz="4795" b="1" dirty="0">
              <a:solidFill>
                <a:srgbClr val="00A5ED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  <a:p>
            <a:pPr algn="ctr">
              <a:lnSpc>
                <a:spcPts val="4480"/>
              </a:lnSpc>
            </a:pP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Mariana Rigueiro</a:t>
            </a:r>
            <a:r>
              <a:rPr lang="en-US" sz="3395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1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; </a:t>
            </a:r>
            <a:r>
              <a:rPr lang="en-US" sz="3395" b="1" dirty="0" err="1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Vinícius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 Gonzaga</a:t>
            </a:r>
            <a:r>
              <a:rPr lang="en-US" sz="3395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2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; Lukas Bariani</a:t>
            </a:r>
            <a:r>
              <a:rPr lang="en-US" sz="3395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3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; </a:t>
            </a:r>
            <a:r>
              <a:rPr lang="en-US" sz="3395" b="1" dirty="0" err="1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Matheus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 Mendonça</a:t>
            </a:r>
            <a:r>
              <a:rPr lang="en-US" sz="3395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4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; </a:t>
            </a:r>
            <a:r>
              <a:rPr lang="en-US" sz="3395" b="1" dirty="0" err="1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Rogério</a:t>
            </a:r>
            <a:r>
              <a:rPr lang="en-US" sz="3395" b="1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 Costa</a:t>
            </a:r>
            <a:r>
              <a:rPr lang="en-US" sz="3395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5</a:t>
            </a:r>
            <a:endParaRPr lang="en-US" sz="3395" b="1" dirty="0">
              <a:solidFill>
                <a:srgbClr val="022E5C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  <a:p>
            <a:pPr algn="ctr">
              <a:lnSpc>
                <a:spcPts val="4215"/>
              </a:lnSpc>
            </a:pPr>
            <a:r>
              <a:rPr lang="en-US" sz="3195" dirty="0" err="1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Etec</a:t>
            </a:r>
            <a:r>
              <a:rPr lang="en-US" sz="3195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 Zona </a:t>
            </a:r>
            <a:r>
              <a:rPr lang="en-US" sz="3195" dirty="0" err="1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Leste</a:t>
            </a:r>
            <a:endParaRPr lang="en-US" sz="3195" dirty="0">
              <a:solidFill>
                <a:srgbClr val="022E5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lnSpc>
                <a:spcPts val="3165"/>
              </a:lnSpc>
            </a:pPr>
            <a:r>
              <a:rPr lang="en-US" sz="2400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1</a:t>
            </a:r>
            <a:r>
              <a:rPr lang="en-US" sz="2395" dirty="0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mariana.rigueiro@etec.sp.gv.br; </a:t>
            </a:r>
            <a:r>
              <a:rPr lang="en-US" sz="2400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2</a:t>
            </a:r>
            <a:r>
              <a:rPr lang="en-US" sz="2395" dirty="0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vinicius.pereira828@etec.sp.gov.br; </a:t>
            </a:r>
            <a:r>
              <a:rPr lang="en-US" sz="2400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3</a:t>
            </a:r>
            <a:r>
              <a:rPr lang="en-US" sz="2395" dirty="0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lukas.bariani@etec.sp.gov.br; </a:t>
            </a:r>
            <a:r>
              <a:rPr lang="en-US" sz="2400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4</a:t>
            </a:r>
            <a:r>
              <a:rPr lang="en-US" sz="2395" dirty="0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matheus.lima@etec.sp.gov.br; </a:t>
            </a:r>
            <a:r>
              <a:rPr lang="en-US" sz="2400" b="1" baseline="30000" dirty="0">
                <a:solidFill>
                  <a:srgbClr val="022E5C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5</a:t>
            </a:r>
            <a:r>
              <a:rPr lang="en-US" sz="2395" dirty="0">
                <a:solidFill>
                  <a:srgbClr val="022E5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rogerio.costa3@etec.sp.gov.br</a:t>
            </a:r>
            <a:endParaRPr lang="en-US" sz="2395" dirty="0">
              <a:solidFill>
                <a:srgbClr val="022E5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lnSpc>
                <a:spcPts val="3165"/>
              </a:lnSpc>
            </a:pPr>
            <a:endParaRPr lang="en-US" sz="2395" dirty="0">
              <a:solidFill>
                <a:srgbClr val="022E5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802552" y="35217071"/>
            <a:ext cx="131948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95">
                <a:solidFill>
                  <a:srgbClr val="4444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“O conteúdo expresso no trabalho é de inteira responsabilidade do(s) autor(es)”</a:t>
            </a:r>
            <a:endParaRPr lang="en-US" sz="2395">
              <a:solidFill>
                <a:srgbClr val="44444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07224" y="6429213"/>
            <a:ext cx="13285050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seguinte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propõe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monitoramento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suprindo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falta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ferramentas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acessíveis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apresenta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sensores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simulados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Tinkercad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ESP32/Arduino, API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Node.js, banco MySQL e dashboard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responsivo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protótipo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sustentabilidade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relatórios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automatizados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aplicável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diversos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57796" y="18096748"/>
            <a:ext cx="13288023" cy="738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objetivo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desenvolver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ajude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acompanhar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meio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reunindo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sensores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painel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moderno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simples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fácil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entender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Com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queremos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oferecer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ferramenta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sustentabilidade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facilite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análise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dados e incentive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responsáveis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justificativa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hoje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cuidar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planeta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escolha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necessidade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Apesar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disso,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ainda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existem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poucas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acessíveis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realmente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aproximem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pessoas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dos dados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forma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prática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tecnologia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preservação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representa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importante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alternativas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inovadoras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façam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diferença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só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mas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também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futuro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3840"/>
              </a:lnSpc>
            </a:pPr>
            <a:r>
              <a:rPr lang="pt-BR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relevância da pesquisa está na contribuição para a governança ambiental baseada em dados, no apoio a processos de </a:t>
            </a:r>
            <a:r>
              <a:rPr lang="pt-BR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compliance</a:t>
            </a:r>
            <a:r>
              <a:rPr lang="pt-BR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ambiental e em soluções voltadas à preservação em entorno portuário (ANTAQ, 2022). 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4816510" y="6371492"/>
            <a:ext cx="13194897" cy="915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5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protótipo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desenvolvido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mostrou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-se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capaz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monitorar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indicadores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exibindo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dados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temperatura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luminosidade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gás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 solo de forma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organizada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dashboard.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Foi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possível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acompanhar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relatórios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automáticos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o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facilita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análise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tomada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conscientes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4215"/>
              </a:lnSpc>
            </a:pPr>
            <a:r>
              <a:rPr lang="pt-BR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Além disso, estudos mostram que sistemas de monitoramento contínuo permitem que portos tenham controle mais preciso sobre emissões e poluentes, fortalecendo práticas de sustentabilidade e atendendo a requisitos de governança ambiental (MARTINS; HABECK, 2025).</a:t>
            </a:r>
            <a:endParaRPr lang="pt-BR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4215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gráfico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1,  é um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exemplo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seriam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exibidas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dentro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reúne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dados,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permitindo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tendências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períodos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forma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Este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exemplo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serve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demonstrar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interface do dashboard,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evidenciando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usuários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poderiam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acompanhar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parâmetros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tomar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baseadas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coletadas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pelos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sensores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4816510" y="29932365"/>
            <a:ext cx="13067179" cy="443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0"/>
              </a:lnSpc>
            </a:pP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ANTAQ. </a:t>
            </a:r>
            <a:r>
              <a:rPr lang="pt-BR" sz="2150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Índice de Desempenho Ambiental (IDA). Agência Nacional de Transportes </a:t>
            </a:r>
            <a:r>
              <a:rPr lang="pt-BR" sz="2150" b="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Aquaviários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Disponível </a:t>
            </a:r>
            <a:r>
              <a:rPr lang="pt-BR" sz="215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em:https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://www.gov.br/antaq/pt-br/assuntos/sustentabilidade/indice-de-desempenho-ambiental-ida-1.Acesso em: 29 ago. 2025.</a:t>
            </a:r>
            <a:endParaRPr lang="pt-BR" sz="215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2900"/>
              </a:lnSpc>
            </a:pPr>
            <a:endParaRPr lang="pt-BR" sz="215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2900"/>
              </a:lnSpc>
            </a:pP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MARTINS, Ana Luiza Gomes; HABECK, Sofia </a:t>
            </a:r>
            <a:r>
              <a:rPr lang="pt-BR" sz="215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Zancanaro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pt-BR" sz="2150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Implementação da Política de Sustentabilidade nos Portos: aspectos ESG e desafios regulatórios.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São Paulo: </a:t>
            </a:r>
            <a:r>
              <a:rPr lang="pt-BR" sz="215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Schiefler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Advocacia, 2025. Disponível em: https://schiefler.adv.br/implementacao-da-politica-de-sustentabilidade-nos-portos-aspectos-esg-e-desafios-regulatorios/ Acesso em: 19 ago. 2025.</a:t>
            </a:r>
            <a:endParaRPr lang="pt-BR" sz="215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2900"/>
              </a:lnSpc>
            </a:pPr>
            <a:endParaRPr lang="pt-BR" sz="215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2900"/>
              </a:lnSpc>
            </a:pP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STEINER, Leonardo Vilela; SILVEIRA, Tainara Cristina; BUSS, Tiago. </a:t>
            </a:r>
            <a:r>
              <a:rPr lang="pt-BR" sz="2150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AVALIAÇÃO DE DESEMPENHO AMBIENTAL NO CONTEXTO DO PORTO 4.0.</a:t>
            </a:r>
            <a:r>
              <a:rPr lang="pt-BR" sz="215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Revista Eletrônica de Estratégia &amp; Negócios, [S.L.], v. 15, p. 161-194, 29 jul. 2022. Anima Educação. http://dx.doi.org/10.59306/reen.v15e2022161-194.</a:t>
            </a:r>
            <a:endParaRPr lang="pt-BR" sz="215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96398" y="10397495"/>
            <a:ext cx="13285051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Estamos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falar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sobre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meio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opcional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essencial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Pensando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nisso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monitoramento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indicadores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já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ainda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faltam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ferramentas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acessíveis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nossa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atualidade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sensores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simulados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Tinkercad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conectados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um ESP32/Arduino, com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API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Node.js, banco MySQL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dashboard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moderna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protótipo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espera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contribuir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para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sustentabilidade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facilitar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análise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dados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precisam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tomar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conscientes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concisas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pt-BR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problemática investigada refere-se à ausência de ferramentas acessíveis e integradas que possibilitem a coleta, análise e visualização contínua de indicadores ambientais em diferentes setores, incluindo áreas portuárias e seus entornos, onde atividades logísticas intensivas frequentemente impactam ecossistemas sensíveis, (STEINER; SILVEIRA; BUSS, 2022).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47124" y="25443393"/>
            <a:ext cx="13183598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PROCEDIMENTOS METODOLÓGICOS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93425" y="26211594"/>
            <a:ext cx="13288023" cy="686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desenvolver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grupo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utilizou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metodologia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prática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estruturada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Primeiro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simulamos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sensores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Tinkercad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incluindo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temperatura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luminosidade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gás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 </a:t>
            </a:r>
            <a:r>
              <a:rPr lang="en-US" sz="3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solo 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conectados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um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microcontrolador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ESP32/Arduino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coleta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contínua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dados.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3840"/>
              </a:lnSpc>
            </a:pP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dados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foram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enviados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API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Node.js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armazenados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um banco MySQL,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garantindo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organização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segurança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das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informações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criamos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um dashboard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responsivo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permite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acompanhar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indicadores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relatórios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automáticos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3840"/>
              </a:lnSpc>
            </a:pP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foi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pensado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tecnologia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sustentabilidade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oferecendo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ferramenta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prática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análise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dados e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tomada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conscientes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just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significativo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direção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inovadoras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4721599" y="23956597"/>
            <a:ext cx="13111364" cy="6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195" b="1">
                <a:solidFill>
                  <a:srgbClr val="FFFFFF"/>
                </a:solidFill>
                <a:latin typeface="Arial Bold" panose="020B0802020202020204"/>
                <a:ea typeface="Arial Bold" panose="020B0802020202020204"/>
                <a:cs typeface="Arial Bold" panose="020B0802020202020204"/>
                <a:sym typeface="Arial Bold" panose="020B0802020202020204"/>
              </a:rPr>
              <a:t>CONSIDERAÇÕES FINAIS</a:t>
            </a:r>
            <a:endParaRPr lang="en-US" sz="3195" b="1">
              <a:solidFill>
                <a:srgbClr val="FFFFFF"/>
              </a:solidFill>
              <a:latin typeface="Arial Bold" panose="020B0802020202020204"/>
              <a:ea typeface="Arial Bold" panose="020B0802020202020204"/>
              <a:cs typeface="Arial Bold" panose="020B0802020202020204"/>
              <a:sym typeface="Arial Bold" panose="020B0802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768693" y="25250775"/>
            <a:ext cx="13194897" cy="395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desenvolvimento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mostrou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é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possível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tecnologia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sustentabilidade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forma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prática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eficiente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protótipo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permite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monitorar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indicadores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tempo real,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setores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gerar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relatórios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automáticos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apoiando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tomada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decisões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conscientes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Percebemos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que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soluções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acessíveis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integradas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podem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fazer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diferença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preservação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meio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ambiente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têm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potencial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aplicação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contextos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acadêmicos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industriais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governamentais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também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32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TextBox 41"/>
          <p:cNvSpPr txBox="1"/>
          <p:nvPr/>
        </p:nvSpPr>
        <p:spPr>
          <a:xfrm>
            <a:off x="14794230" y="21189950"/>
            <a:ext cx="12948285" cy="32213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A figura 2 ilustra a 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Dispara-Ervilha 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é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o prot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ó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tipo f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í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sico do EcoView, unindo tecnologia e</a:t>
            </a:r>
            <a:r>
              <a:rPr lang="pt-BR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ambiete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. Impressa em 3D com PLA biodegrad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á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vel, coleta dados de temperatura, umidade, luminosidade e qualidade do ar. Seu design verde e org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â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nico simboliza sustentabilidade e inova</a:t>
            </a:r>
            <a:r>
              <a:rPr lang="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ç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ã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o, representando a liga</a:t>
            </a:r>
            <a:r>
              <a:rPr lang="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ç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ã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o entre o mundo f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í</a:t>
            </a:r>
            <a:r>
              <a:rPr lang="en-US" altLang="pt-BR" sz="3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sico e digital do projeto.</a:t>
            </a:r>
            <a:endParaRPr lang="en-US" altLang="pt-BR" sz="32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51" name="Imagem 5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814" y="734308"/>
            <a:ext cx="2490935" cy="1570184"/>
          </a:xfrm>
          <a:prstGeom prst="rect">
            <a:avLst/>
          </a:prstGeom>
        </p:spPr>
      </p:pic>
      <p:sp>
        <p:nvSpPr>
          <p:cNvPr id="48" name="CaixaDeTexto 47"/>
          <p:cNvSpPr txBox="1"/>
          <p:nvPr/>
        </p:nvSpPr>
        <p:spPr>
          <a:xfrm>
            <a:off x="15594642" y="20036453"/>
            <a:ext cx="2366645" cy="3054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Fonte: do autor(2025)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22522335" y="19898416"/>
            <a:ext cx="2620645" cy="1828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Fonte: do autor(2025)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sdmntprnorthcentralus.oaiusercontent.com/files/00000000-e9d8-622f-9cc8-e731b9699f23/raw?se=2025-10-06T21%3A49%3A22Z&amp;sp=r&amp;sv=2024-08-04&amp;sr=b&amp;scid=a3bb3592-8baf-5364-b058-92a70f0decea&amp;skoid=02b7f7b5-29f8-416a-aeb6-99464748559d&amp;sktid=a48cca56-e6da-484e-a814-9c849652bcb3&amp;skt=2025-10-06T11%3A22%3A37Z&amp;ske=2025-10-07T11%3A22%3A37Z&amp;sks=b&amp;skv=2024-08-04&amp;sig=RB2apKw5RovoHIj/%2BybE0btvRsCJidACokHu0W8dNos%3D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653" y="16039156"/>
            <a:ext cx="2602306" cy="390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Imagem 34" descr="imagem_2025-10-07_1157371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46871" y="15621159"/>
            <a:ext cx="4398010" cy="4398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6398</Words>
  <Application>WPS Presentation</Application>
  <PresentationFormat>Personalizar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Bold</vt:lpstr>
      <vt:lpstr>Arial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CNIT-Template-e-poster.pptx</dc:title>
  <dc:creator>rcosta</dc:creator>
  <cp:lastModifiedBy>Vinícius Gonzaga Pereira</cp:lastModifiedBy>
  <cp:revision>16</cp:revision>
  <dcterms:created xsi:type="dcterms:W3CDTF">2006-08-16T00:00:00Z</dcterms:created>
  <dcterms:modified xsi:type="dcterms:W3CDTF">2025-10-08T00:04:04Z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4090B899DEC04790A9442EA2C09385FA_13</vt:lpwstr>
  </property>
  <property fmtid="{D5CDD505-2E9C-101B-9397-08002B2CF9AE}" pid="3" name="KSOProductBuildVer">
    <vt:lpwstr>1046-12.2.0.22549</vt:lpwstr>
  </property>
</Properties>
</file>